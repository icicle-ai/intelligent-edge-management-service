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00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818CF8"/>
                </a:solidFill>
                <a:latin typeface="Segoe UI"/>
              </a:rPr>
              <a:t>NSF ICICLE AI INSTITUTE  ·  EDGE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i="0">
                <a:solidFill>
                  <a:srgbClr val="9FAAC4"/>
                </a:solidFill>
                <a:latin typeface="Segoe UI"/>
              </a:rPr>
              <a:t>Fleet management and AI model deployment for NVIDIA Jetson at the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572000"/>
            <a:ext cx="292608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48006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Segoe UI"/>
              </a:rPr>
              <a:t>Prepared for NVIDIA  ·  Technical overview &amp; collaboration</a:t>
            </a:r>
          </a:p>
          <a:p>
            <a:r>
              <a:rPr sz="1300" b="0" i="0">
                <a:solidFill>
                  <a:srgbClr val="9FAAC4"/>
                </a:solidFill>
                <a:latin typeface="Segoe UI"/>
              </a:rPr>
              <a:t>Live demo available on request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Running AI on a fleet of edge devices is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AI increasingly runs in the field — on cameras, sensors, robots — not just in the cloud.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818CF8"/>
                </a:solidFill>
                <a:latin typeface="Segoe UI"/>
              </a:rPr>
              <a:t>—  </a:t>
            </a:r>
            <a:r>
              <a:rPr sz="1600" b="0" i="0">
                <a:solidFill>
                  <a:srgbClr val="9FAAC4"/>
                </a:solidFill>
                <a:latin typeface="Segoe UI"/>
              </a:rPr>
              <a:t>Each node is an NVIDIA Jetson: a GPU computer on a farm, in a lab, or in the wild.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Getting a model onto every device meant SSH-ing in, copying files, and running commands by hand.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818CF8"/>
                </a:solidFill>
                <a:latin typeface="Segoe UI"/>
              </a:rPr>
              <a:t>—  </a:t>
            </a:r>
            <a:r>
              <a:rPr sz="1600" b="0" i="0">
                <a:solidFill>
                  <a:srgbClr val="9FAAC4"/>
                </a:solidFill>
                <a:latin typeface="Segoe UI"/>
              </a:rPr>
              <a:t>Slow, error-prone, and impossible to track across dozens of devices.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No single view of what's deployed where, whether it's healthy, or who changed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Field devices sit behind NAT/firewalls — you usually can't just reach into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One control plane for the whole edge fleet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 web control plane to publish AI “model cards” (a model + exactly how to run it).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Deploy to one device, a group, or an entire device generation — in a few clicks.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Monitor, stop, restart, and remove deployments live — no terminal required.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 lightweight agent on each Jetson does the heavy lifting and reports back.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Cloud-native: runs as a container on Tapis Pods (Kubernetes); integrates with the ICICLE ecosystem.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Live status everywhere — Delivering, Running, Stopped — with a full audit trail.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How the pieces fit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200400" cy="1371600"/>
          </a:xfrm>
          <a:prstGeom prst="roundRect">
            <a:avLst/>
          </a:prstGeom>
          <a:solidFill>
            <a:srgbClr val="1E2740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Operator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Browser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57400"/>
            <a:ext cx="3200400" cy="13716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Control Plane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FastAPI on Tapis Pods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57400"/>
            <a:ext cx="3200400" cy="13716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NVIDIA Jetson Fleet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Edge agent + Docker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86200" y="2514600"/>
            <a:ext cx="548640" cy="36576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7726679" y="2395728"/>
            <a:ext cx="548640" cy="36576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eft Arrow 12"/>
          <p:cNvSpPr/>
          <p:nvPr/>
        </p:nvSpPr>
        <p:spPr>
          <a:xfrm>
            <a:off x="7726679" y="2743200"/>
            <a:ext cx="548640" cy="365760"/>
          </a:xfrm>
          <a:prstGeom prst="leftArrow">
            <a:avLst/>
          </a:prstGeom>
          <a:solidFill>
            <a:srgbClr val="9FA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3154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FAAC4"/>
                </a:solidFill>
                <a:latin typeface="Segoe UI"/>
              </a:rPr>
              <a:t>MQTT cmds  /  HTTPS heartbeats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2606040" cy="11430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PostgreSQL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Devices, models,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4160520"/>
            <a:ext cx="2606040" cy="11430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Patra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Model provenance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2606040" cy="11430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MQTT Broker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Command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4160520"/>
            <a:ext cx="2606040" cy="11430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Tapis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Auth (OAuth2) + Pods 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18CF8"/>
                </a:solidFill>
                <a:latin typeface="Segoe UI"/>
              </a:rPr>
              <a:t>Shared ICICLE / Tapis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ON THE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The NVIDIA Jetson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 small Python systemd service installed on each Jetson via a generated installer.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Subscribes to MQTT command topics (per-device, per-group, per-generation).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Runs models as Docker containers on the device — deploy / stop / restart / delete.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Reports heartbeats over HTTPS: status, running containers, and GPU telemetry.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Makes an outbound connection only — works behind NAT/firewalls with no inbound ports.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Handles real-world Jetson needs (e.g. X11/display + camera access for CV containers).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MODEL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From model card to a running container on the 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 model card is self-contained: artifact (e.g. a TensorRT .engine), image, env, mounts, args.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Deploy builds one MQTT payload — the agent needs no extra lookups.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Agent resolves &amp; validates the artifact, pulls the image, and launches the container.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818CF8"/>
                </a:solidFill>
                <a:latin typeface="Segoe UI"/>
              </a:rPr>
              <a:t>—  </a:t>
            </a:r>
            <a:r>
              <a:rPr sz="1600" b="0" i="0">
                <a:solidFill>
                  <a:srgbClr val="9FAAC4"/>
                </a:solidFill>
                <a:latin typeface="Segoe UI"/>
              </a:rPr>
              <a:t>docker run with --runtime nvidia / --gpus, privileged &amp; device mounts as the card specifies.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Live status flows back: Delivering → Pulling → Starting → Running.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Stop keeps image + artifacts cached for instant restart; Delete fully cleans the 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DEPLOYMENT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One click → a container on the Jetson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2286000" cy="146304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Deploy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Operator picks a model +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286000"/>
            <a:ext cx="2286000" cy="146304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Build payload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Control plane assembles model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286000"/>
            <a:ext cx="2286000" cy="146304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MQTT command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Delivered to the device topic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286000"/>
            <a:ext cx="2286000" cy="146304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docker run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Agent starts the GPU container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07208" y="2834640"/>
            <a:ext cx="365760" cy="36576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5504688" y="2834640"/>
            <a:ext cx="365760" cy="36576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8202168" y="2834640"/>
            <a:ext cx="365760" cy="36576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0400" y="4297680"/>
            <a:ext cx="7680960" cy="100584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ACK + heartbeats</a:t>
            </a:r>
          </a:p>
          <a:p>
            <a:pPr algn="ctr"/>
            <a:r>
              <a:rPr sz="1200" b="0" i="0">
                <a:solidFill>
                  <a:srgbClr val="9FAAC4"/>
                </a:solidFill>
                <a:latin typeface="Segoe UI"/>
              </a:rPr>
              <a:t>RUNNING / FAILED status and GPU health flow back over HTTPS — dashboard updates live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144000" y="3886200"/>
            <a:ext cx="365760" cy="411480"/>
          </a:xfrm>
          <a:prstGeom prst="downArrow">
            <a:avLst/>
          </a:prstGeom>
          <a:solidFill>
            <a:srgbClr val="9FA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WHY IT MATTERS TO NVIDIA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Built on the NVIDIA edge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Jetson-native: containers run with the NVIDIA container runtime and GPU access.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TensorRT engines: model cards ship &amp; validate .engine artifacts for accelerated inference.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Any CUDA / TensorRT container image runs unmodified — bring your own model image.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GPU observability: per-device telemetry (GPU temp, memory, running containers).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DeepStream-ready: the container model fits DeepStream / Triton pipelines as a next step.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Scales across the Jetson family — Nano today, Orin / IGX tomorrow.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i="0" dirty="0">
                <a:solidFill>
                  <a:srgbClr val="818CF8"/>
                </a:solidFill>
                <a:latin typeface="Segoe UI"/>
              </a:rPr>
              <a:t>SETUP</a:t>
            </a:r>
            <a:r>
              <a:rPr sz="1300" b="1" i="0" dirty="0">
                <a:solidFill>
                  <a:srgbClr val="818CF8"/>
                </a:solidFill>
                <a:latin typeface="Segoe UI"/>
              </a:rPr>
              <a:t> ON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Multi-camera capture on a single Jetson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057400" cy="9144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IP Camera 1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PoE-powered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2057400" cy="91440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IP Camera 2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PoE-powered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7480" y="2670048"/>
            <a:ext cx="594360" cy="256032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2697480" y="3950208"/>
            <a:ext cx="594360" cy="256032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42032" y="32461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9FAAC4"/>
                </a:solidFill>
                <a:latin typeface="Segoe UI"/>
              </a:rPr>
              <a:t>PoE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Ethernet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57400"/>
            <a:ext cx="4160520" cy="3108960"/>
          </a:xfrm>
          <a:prstGeom prst="roundRect">
            <a:avLst/>
          </a:prstGeom>
          <a:solidFill>
            <a:srgbClr val="1E2740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194560"/>
            <a:ext cx="41605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700" b="1" i="0" dirty="0">
                <a:solidFill>
                  <a:srgbClr val="FFFFFF"/>
                </a:solidFill>
                <a:latin typeface="Segoe UI"/>
              </a:rPr>
              <a:t>Industrial grade </a:t>
            </a:r>
            <a:r>
              <a:rPr sz="1700" b="1" i="0" dirty="0">
                <a:solidFill>
                  <a:srgbClr val="FFFFFF"/>
                </a:solidFill>
                <a:latin typeface="Segoe UI"/>
              </a:rPr>
              <a:t>Jetson</a:t>
            </a:r>
            <a:r>
              <a:rPr lang="en-US" sz="1700" b="1" i="0" dirty="0">
                <a:solidFill>
                  <a:srgbClr val="FFFFFF"/>
                </a:solidFill>
                <a:latin typeface="Segoe UI"/>
              </a:rPr>
              <a:t> AGX Xavier</a:t>
            </a:r>
            <a:endParaRPr sz="17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85032" y="2743200"/>
            <a:ext cx="566928" cy="420624"/>
          </a:xfrm>
          <a:prstGeom prst="roundRect">
            <a:avLst/>
          </a:prstGeom>
          <a:solidFill>
            <a:srgbClr val="818CF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98264" y="2743200"/>
            <a:ext cx="566928" cy="420624"/>
          </a:xfrm>
          <a:prstGeom prst="roundRect">
            <a:avLst/>
          </a:prstGeom>
          <a:solidFill>
            <a:srgbClr val="818CF8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11496" y="2743200"/>
            <a:ext cx="566928" cy="42062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24728" y="2743200"/>
            <a:ext cx="566928" cy="42062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3218688"/>
            <a:ext cx="4160520" cy="169277"/>
          </a:xfrm>
          <a:prstGeom prst="rect">
            <a:avLst/>
          </a:prstGeom>
          <a:noFill/>
        </p:spPr>
        <p:txBody>
          <a:bodyPr wrap="square" lIns="256032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9FAAC4"/>
                </a:solidFill>
                <a:latin typeface="Segoe UI"/>
              </a:rPr>
              <a:t>4× PoE Ethernet  —  2 in 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5032" y="3657600"/>
            <a:ext cx="3657600" cy="118872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Multi-camera application</a:t>
            </a:r>
          </a:p>
          <a:p>
            <a:pPr algn="ctr"/>
            <a:r>
              <a:rPr sz="1100" b="0" i="0">
                <a:solidFill>
                  <a:srgbClr val="9FAAC4"/>
                </a:solidFill>
                <a:latin typeface="Segoe UI"/>
              </a:rPr>
              <a:t>Per-camera inference + composited output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99248" y="3383280"/>
            <a:ext cx="777240" cy="27432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971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Segoe UI"/>
              </a:rPr>
              <a:t>HTTP MJPEG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2423160"/>
            <a:ext cx="3017520" cy="2331720"/>
          </a:xfrm>
          <a:prstGeom prst="roundRect">
            <a:avLst/>
          </a:prstGeom>
          <a:solidFill>
            <a:srgbClr val="131A2E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25420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Laptop browser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063240"/>
            <a:ext cx="1188720" cy="566928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95560" y="3063240"/>
            <a:ext cx="1188720" cy="566928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69680" y="3767328"/>
            <a:ext cx="1188720" cy="5669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195560" y="3767328"/>
            <a:ext cx="1188720" cy="5669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44348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FAAC4"/>
                </a:solidFill>
                <a:latin typeface="Segoe UI"/>
              </a:rPr>
              <a:t>Composited multi-camera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1" dirty="0">
                <a:solidFill>
                  <a:srgbClr val="9FAAC4"/>
                </a:solidFill>
                <a:latin typeface="Segoe UI"/>
              </a:rPr>
              <a:t>Tested on one Jetson with 4 PoE ports: two cameras connected and the multi-camera application ran successfully </a:t>
            </a:r>
            <a:r>
              <a:rPr lang="en-US" sz="1400" b="0" i="1" dirty="0">
                <a:solidFill>
                  <a:srgbClr val="9FAAC4"/>
                </a:solidFill>
                <a:latin typeface="Segoe UI"/>
              </a:rPr>
              <a:t>-</a:t>
            </a:r>
            <a:r>
              <a:rPr sz="1400" b="0" i="1" dirty="0">
                <a:solidFill>
                  <a:srgbClr val="9FAAC4"/>
                </a:solidFill>
                <a:latin typeface="Segoe UI"/>
              </a:rPr>
              <a:t> the processed stream was viewable in a laptop browser over HTTP MJPEG.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Always reflects reality in the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Heartbeats every N seconds: status, active containers, and GPU telemetry.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Offline watchdog flags devices automatically when heartbeats stop.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Per-device deployment status, reconciled from agent ACKs.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Full audit trail — every command, who issued it, when, and the device response.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Event log surfaces failures (image pull, mount missing, GPU/runtime errors) with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SECURITY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Touching real hardware,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Single sign-on via Tapis OAuth2 (institutional login) — no separate passwords.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Role-aware UI: admins vs. operators see the right controls.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Per-device API keys: the agent authenticates every heartbeat and ACK.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Owner-scoped data: users only see and act on their own devices and models.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Outbound-only agent + signed sessions reduce the attack surface at the 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Technology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Backend: Python + FastAPI (REST API + server-rendered UI).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Messaging: MQTT for commands, HTTPS for heartbeats / ACKs.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Storage: SQLite for local dev → PostgreSQL in production (same code, env-switched).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Auth: Tapis OAuth2 (authorization-code flow).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Edge: Python systemd agent + Docker + NVIDIA container runtime on Jetson.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Packaged as a Docker image, deployed on Tapis Pods (Kubernetes).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18CF8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Where we'd love NVIDIA's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FAAC4"/>
                </a:solidFill>
                <a:latin typeface="Segoe UI"/>
              </a:rPr>
              <a:t>ICICLE Edge Fleet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16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18CF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DeepStream / Triton pipelines as first-class model-card runtimes.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TensorRT optimization service — convert/validate engines per Jetson generation.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Larger fleets + richer alerting; Orin / IGX support and MIG-aware scheduling.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818CF8"/>
                </a:solidFill>
                <a:latin typeface="Segoe UI"/>
              </a:rPr>
              <a:t>▍ </a:t>
            </a:r>
            <a:r>
              <a:rPr sz="1800" b="0" i="0">
                <a:solidFill>
                  <a:srgbClr val="FFFFFF"/>
                </a:solidFill>
                <a:latin typeface="Segoe UI"/>
              </a:rPr>
              <a:t>Self-service device onboarding and over-the-air agent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One dashboard. A fleet of Jetsons.</a:t>
            </a:r>
          </a:p>
          <a:p>
            <a:r>
              <a:rPr sz="2400" b="1" i="0">
                <a:solidFill>
                  <a:srgbClr val="818CF8"/>
                </a:solidFill>
                <a:latin typeface="Segoe UI"/>
              </a:rPr>
              <a:t>AI at the edge — deployed, observed, and accelerated.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93192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Discussion topics: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9FAAC4"/>
                </a:solidFill>
                <a:latin typeface="Segoe UI"/>
              </a:rPr>
              <a:t>•  DeepStream / Triton integration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9FAAC4"/>
                </a:solidFill>
                <a:latin typeface="Segoe UI"/>
              </a:rPr>
              <a:t>•  TensorRT optimization workflows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9FAAC4"/>
                </a:solidFill>
                <a:latin typeface="Segoe UI"/>
              </a:rPr>
              <a:t>•  Reference Jetson generations &amp; scaling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6692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Segoe UI"/>
              </a:rPr>
              <a:t>Thank you  ·  Questions?  ·  Live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1216</Words>
  <Application>Microsoft Macintosh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Byrandurga Gopinath, Harikesh</cp:lastModifiedBy>
  <cp:revision>2</cp:revision>
  <dcterms:created xsi:type="dcterms:W3CDTF">2013-01-27T09:14:16Z</dcterms:created>
  <dcterms:modified xsi:type="dcterms:W3CDTF">2026-06-24T13:10:12Z</dcterms:modified>
  <cp:category/>
</cp:coreProperties>
</file>